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61DFE3-7626-1FDA-9BFB-47DA783381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393D921-8F22-B165-0C60-E320B662C9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2D2A52-C58A-01C7-3CE3-07D5F1231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CC412-BEB1-47E5-BEFD-758627C3524A}" type="datetimeFigureOut">
              <a:rPr lang="es-CO" smtClean="0"/>
              <a:t>26/10/2026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B7778FD-892D-84A4-E808-8A1F33ED8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632657-6B4E-DB7D-11C7-97569D512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B6EA2-826A-433C-B055-4CF1B3D0945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92962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E0FCCB-43EC-5983-F9AC-11AE788AF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4844A19-C0AC-BDDD-1157-962B3D640B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DBBD840-695A-3DBB-B813-4EF4CAEDE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CC412-BEB1-47E5-BEFD-758627C3524A}" type="datetimeFigureOut">
              <a:rPr lang="es-CO" smtClean="0"/>
              <a:t>26/10/2026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CB4E1B0-D217-24AB-55D8-A65C83340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0BEC0F-F471-555B-6570-A167A133B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B6EA2-826A-433C-B055-4CF1B3D0945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6825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7819EB-5D5E-DB75-D5DE-EBC3969A0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1BE889C-1C3D-F68B-9AA2-89F7A6058E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23BC7D-1B13-2883-B2F6-19926589F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CC412-BEB1-47E5-BEFD-758627C3524A}" type="datetimeFigureOut">
              <a:rPr lang="es-CO" smtClean="0"/>
              <a:t>26/10/2026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A5A9CA-A01F-CA9B-0758-02129484B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111BC35-2D72-BF2E-4097-3B15B4F28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B6EA2-826A-433C-B055-4CF1B3D0945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47132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590758-7664-E9D1-F4B8-1D0483CF5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E09DC7-2AA2-F9A4-EFC8-F3A9EFA068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7947C79-43A7-6B0F-B78F-CBBBD7530E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D23E68B-51C9-A204-F117-06995C469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CC412-BEB1-47E5-BEFD-758627C3524A}" type="datetimeFigureOut">
              <a:rPr lang="es-CO" smtClean="0"/>
              <a:t>26/10/2026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74EC3DC-F60D-6BA5-FBC4-F8BE03CDF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B330B1-22CE-F8E2-89E6-D71A94EAF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B6EA2-826A-433C-B055-4CF1B3D0945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38245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88B8CF-744A-2939-06CF-6E582A09C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CC5A2A2-22EA-F03C-CD64-208BF0D55B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B9DA1D6-8892-B9F1-7E36-BE8CEE0F6B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C6E19CB-788F-1050-CE1A-11A05A649D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59E969F-1AA9-6A18-3E77-D43452B687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C621612-F091-E5F8-DC06-61C06BB23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CC412-BEB1-47E5-BEFD-758627C3524A}" type="datetimeFigureOut">
              <a:rPr lang="es-CO" smtClean="0"/>
              <a:t>26/10/2026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8D47D61-594F-D1A7-B89C-1A38098E1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3B1D213-324A-F713-BF8E-518E3D45D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B6EA2-826A-433C-B055-4CF1B3D0945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10553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BCB825-E270-B86D-D890-1CB0E8811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1134575-7B7E-2276-EA00-5611B2A3B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CC412-BEB1-47E5-BEFD-758627C3524A}" type="datetimeFigureOut">
              <a:rPr lang="es-CO" smtClean="0"/>
              <a:t>26/10/2026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B18B61C-3080-738A-F53D-4AEB7E34B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CCCA28F-058E-3AEF-4582-97E8FB320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B6EA2-826A-433C-B055-4CF1B3D0945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69220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4C1CAEA-EDEC-A37B-EFA2-D5B97E655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CC412-BEB1-47E5-BEFD-758627C3524A}" type="datetimeFigureOut">
              <a:rPr lang="es-CO" smtClean="0"/>
              <a:t>26/10/2026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67F27F0-4186-0674-00A3-E0A59668E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215B02-E157-0581-5D86-ED7578F6B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B6EA2-826A-433C-B055-4CF1B3D0945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37322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CDED75-A73B-A9DF-8899-6D598063D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A1D798-468F-B989-285C-C285AB60C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EA927E2-F6DC-5A96-8809-9C6D96EF65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F85F67-290F-2FD9-96FA-5ED3B1FB6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CC412-BEB1-47E5-BEFD-758627C3524A}" type="datetimeFigureOut">
              <a:rPr lang="es-CO" smtClean="0"/>
              <a:t>26/10/2026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7A538A-11F3-1C5A-0D18-E5DBB6500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D27201D-B2E3-8524-8567-6A3DEE3E6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B6EA2-826A-433C-B055-4CF1B3D0945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2823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112571-57CD-5DF4-7F3A-96ABFD109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5FC4827-C6E9-77D6-FBB9-CCB12193DA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8E3B33F-9552-2930-8830-2A61349BE8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A1EF467-20BD-8413-3597-78B078399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CC412-BEB1-47E5-BEFD-758627C3524A}" type="datetimeFigureOut">
              <a:rPr lang="es-CO" smtClean="0"/>
              <a:t>26/10/2026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24298A5-2434-E6C0-BEA7-7391056C8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8CED882-D249-2C20-8EAE-1FA11256D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B6EA2-826A-433C-B055-4CF1B3D0945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11371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64F93F-B02A-FBDC-4153-09427F838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4A78356-2F1D-E357-9928-203A63922D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6C8D272-2646-9EC6-8E88-77469F48E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CC412-BEB1-47E5-BEFD-758627C3524A}" type="datetimeFigureOut">
              <a:rPr lang="es-CO" smtClean="0"/>
              <a:t>26/10/2026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6C86D7-DE7A-B83B-6E49-74DD0D4E0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DF31C9-9ADB-3362-897D-D04872694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B6EA2-826A-433C-B055-4CF1B3D0945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5033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540D59A-3384-0E70-05E9-C134930B69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721824C-F734-A687-1742-42FEB5CDBA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274EB2F-E261-0E05-FB74-F7B1D2F1F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CC412-BEB1-47E5-BEFD-758627C3524A}" type="datetimeFigureOut">
              <a:rPr lang="es-CO" smtClean="0"/>
              <a:t>26/10/2026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66C9D82-66BD-7B8D-DD5E-2FF93D5C3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D1226B-CBDD-B747-AD93-4FEE0E113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B6EA2-826A-433C-B055-4CF1B3D0945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8526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704D601-0296-692D-52B0-95F734C5C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1508F52-19D8-91F9-9D38-F67FF1852E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C78C2AC-832B-60CF-7B3B-A32E056C10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6CC412-BEB1-47E5-BEFD-758627C3524A}" type="datetimeFigureOut">
              <a:rPr lang="es-CO" smtClean="0"/>
              <a:t>26/10/2026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E3C125-0CE2-E3CF-1F7A-49DE43CE6B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35D4DF5-BD00-6B2D-E31D-959F642906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5B6EA2-826A-433C-B055-4CF1B3D0945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93945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E1B0DCC-2532-5990-31DB-B3BFEE100DAD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C17C0B8-4884-F24C-792F-DF73D70A40C4}"/>
              </a:ext>
            </a:extLst>
          </p:cNvPr>
          <p:cNvSpPr txBox="1"/>
          <p:nvPr/>
        </p:nvSpPr>
        <p:spPr>
          <a:xfrm>
            <a:off x="762000" y="635000"/>
            <a:ext cx="10668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1300" b="1">
                <a:solidFill>
                  <a:srgbClr val="C8102E"/>
                </a:solidFill>
                <a:latin typeface="Segoe UI" panose="020B0502040204020203" pitchFamily="34" charset="0"/>
              </a:rPr>
              <a:t>INGENIERÍA DE SOFTWARE I — UNILLANOS 2026-2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9777D91-CFF7-0D13-05D6-767B97728B2D}"/>
              </a:ext>
            </a:extLst>
          </p:cNvPr>
          <p:cNvSpPr txBox="1"/>
          <p:nvPr/>
        </p:nvSpPr>
        <p:spPr>
          <a:xfrm>
            <a:off x="723900" y="1079500"/>
            <a:ext cx="106680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3600" b="1">
                <a:solidFill>
                  <a:srgbClr val="FFFFFF"/>
                </a:solidFill>
                <a:latin typeface="Segoe UI" panose="020B0502040204020203" pitchFamily="34" charset="0"/>
              </a:rPr>
              <a:t>SISTEMA DE GESTIÓN INTEGRAL</a:t>
            </a:r>
          </a:p>
          <a:p>
            <a:r>
              <a:rPr lang="es-ES" sz="3600" b="1">
                <a:solidFill>
                  <a:srgbClr val="FFFFFF"/>
                </a:solidFill>
                <a:latin typeface="Segoe UI" panose="020B0502040204020203" pitchFamily="34" charset="0"/>
              </a:rPr>
              <a:t>RESTAURANTE CARBONÍFERO</a:t>
            </a:r>
            <a:endParaRPr lang="es-CO" sz="36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76C46C9-6BB3-C851-560D-B5E3D8256AE8}"/>
              </a:ext>
            </a:extLst>
          </p:cNvPr>
          <p:cNvSpPr txBox="1"/>
          <p:nvPr/>
        </p:nvSpPr>
        <p:spPr>
          <a:xfrm>
            <a:off x="762000" y="2476500"/>
            <a:ext cx="10668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600" i="1">
                <a:solidFill>
                  <a:srgbClr val="C8C8C8"/>
                </a:solidFill>
                <a:latin typeface="Segoe UI" panose="020B0502040204020203" pitchFamily="34" charset="0"/>
              </a:rPr>
              <a:t>Fase de Inicio: Proceso Unificado — Primera Entrevista con el Cliente</a:t>
            </a:r>
            <a:endParaRPr lang="es-CO" sz="1600" i="1">
              <a:solidFill>
                <a:srgbClr val="C8C8C8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1A23E217-0591-6F61-172A-EFDF04F4AB13}"/>
              </a:ext>
            </a:extLst>
          </p:cNvPr>
          <p:cNvSpPr/>
          <p:nvPr/>
        </p:nvSpPr>
        <p:spPr>
          <a:xfrm>
            <a:off x="762000" y="3302000"/>
            <a:ext cx="10668000" cy="266700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C810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FD56C17-CD2D-1C0C-27C8-894912BEE1EC}"/>
              </a:ext>
            </a:extLst>
          </p:cNvPr>
          <p:cNvSpPr txBox="1"/>
          <p:nvPr/>
        </p:nvSpPr>
        <p:spPr>
          <a:xfrm>
            <a:off x="1016000" y="3492500"/>
            <a:ext cx="10160000" cy="147732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1400" b="1" dirty="0">
                <a:solidFill>
                  <a:srgbClr val="C8102E"/>
                </a:solidFill>
                <a:latin typeface="Segoe UI" panose="020B0502040204020203" pitchFamily="34" charset="0"/>
              </a:rPr>
              <a:t>EQUIPO DE DESARROLLO</a:t>
            </a:r>
          </a:p>
          <a:p>
            <a:endParaRPr lang="es-CO" sz="1500" dirty="0">
              <a:solidFill>
                <a:srgbClr val="FFFFFF"/>
              </a:solidFill>
              <a:latin typeface="Segoe UI" panose="020B0502040204020203" pitchFamily="34" charset="0"/>
            </a:endParaRPr>
          </a:p>
          <a:p>
            <a:r>
              <a:rPr lang="es-CO" sz="1500" dirty="0">
                <a:solidFill>
                  <a:srgbClr val="FFFFFF"/>
                </a:solidFill>
                <a:latin typeface="Segoe UI" panose="020B0502040204020203" pitchFamily="34" charset="0"/>
              </a:rPr>
              <a:t>• David F. Alonso (160005001) — Entrevistador Principal</a:t>
            </a:r>
          </a:p>
          <a:p>
            <a:r>
              <a:rPr lang="es-CO" sz="1500" dirty="0">
                <a:solidFill>
                  <a:srgbClr val="FFFFFF"/>
                </a:solidFill>
                <a:latin typeface="Segoe UI" panose="020B0502040204020203" pitchFamily="34" charset="0"/>
              </a:rPr>
              <a:t>• Carlos A. Acebedo (160005144) — Analista Técnico</a:t>
            </a:r>
          </a:p>
          <a:p>
            <a:r>
              <a:rPr lang="es-CO" sz="1500" dirty="0">
                <a:solidFill>
                  <a:srgbClr val="FFFFFF"/>
                </a:solidFill>
                <a:latin typeface="Segoe UI" panose="020B0502040204020203" pitchFamily="34" charset="0"/>
              </a:rPr>
              <a:t>• Juan C. Rico (160005131) — Relator (Acta formal)</a:t>
            </a:r>
          </a:p>
          <a:p>
            <a:r>
              <a:rPr lang="es-CO" sz="1500" dirty="0">
                <a:solidFill>
                  <a:srgbClr val="FFFFFF"/>
                </a:solidFill>
                <a:latin typeface="Segoe UI" panose="020B0502040204020203" pitchFamily="34" charset="0"/>
              </a:rPr>
              <a:t>• Samuel E. Rojas (160005133) — Moderador de Tiempo</a:t>
            </a:r>
          </a:p>
        </p:txBody>
      </p:sp>
    </p:spTree>
    <p:extLst>
      <p:ext uri="{BB962C8B-B14F-4D97-AF65-F5344CB8AC3E}">
        <p14:creationId xmlns:p14="http://schemas.microsoft.com/office/powerpoint/2010/main" val="3079860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6AF34CCA-BA10-B331-E081-479D28EEC294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646CBDD-65E2-BEC2-DA59-1976A33335A6}"/>
              </a:ext>
            </a:extLst>
          </p:cNvPr>
          <p:cNvSpPr txBox="1"/>
          <p:nvPr/>
        </p:nvSpPr>
        <p:spPr>
          <a:xfrm>
            <a:off x="723900" y="381000"/>
            <a:ext cx="10668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1100" b="1">
                <a:solidFill>
                  <a:srgbClr val="C8102E"/>
                </a:solidFill>
                <a:latin typeface="Segoe UI" panose="020B0502040204020203" pitchFamily="34" charset="0"/>
              </a:rPr>
              <a:t>NUESTRA COMPRENSIÓN DEL DOMINIO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BF0EDD3-8ECE-4818-9231-512615499D90}"/>
              </a:ext>
            </a:extLst>
          </p:cNvPr>
          <p:cNvSpPr txBox="1"/>
          <p:nvPr/>
        </p:nvSpPr>
        <p:spPr>
          <a:xfrm>
            <a:off x="723900" y="635000"/>
            <a:ext cx="10668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2000" b="1">
                <a:solidFill>
                  <a:srgbClr val="111111"/>
                </a:solidFill>
                <a:latin typeface="Segoe UI" panose="020B0502040204020203" pitchFamily="34" charset="0"/>
              </a:rPr>
              <a:t>MODELO DEL NEGOCIO (RESTAURANTE DE PARRILLA Y CARBÓN)</a:t>
            </a:r>
            <a:endParaRPr lang="es-CO" sz="2000" b="1">
              <a:solidFill>
                <a:srgbClr val="111111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A1345296-A69C-22A9-C377-FECA26BA0516}"/>
              </a:ext>
            </a:extLst>
          </p:cNvPr>
          <p:cNvSpPr/>
          <p:nvPr/>
        </p:nvSpPr>
        <p:spPr>
          <a:xfrm>
            <a:off x="762000" y="1524000"/>
            <a:ext cx="3302000" cy="4699000"/>
          </a:xfrm>
          <a:prstGeom prst="roundRect">
            <a:avLst/>
          </a:prstGeom>
          <a:solidFill>
            <a:srgbClr val="F5F5F7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8E96564-D453-E617-88E6-58F3635759BF}"/>
              </a:ext>
            </a:extLst>
          </p:cNvPr>
          <p:cNvSpPr txBox="1"/>
          <p:nvPr/>
        </p:nvSpPr>
        <p:spPr>
          <a:xfrm>
            <a:off x="952500" y="1714500"/>
            <a:ext cx="2921000" cy="20005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400" b="1">
                <a:solidFill>
                  <a:srgbClr val="C8102E"/>
                </a:solidFill>
                <a:latin typeface="Segoe UI" panose="020B0502040204020203" pitchFamily="34" charset="0"/>
              </a:rPr>
              <a:t>ATENCIÓN Y MENÚ</a:t>
            </a:r>
          </a:p>
          <a:p>
            <a:endParaRPr lang="es-ES" sz="1300">
              <a:solidFill>
                <a:srgbClr val="111111"/>
              </a:solidFill>
              <a:latin typeface="Segoe UI" panose="020B0502040204020203" pitchFamily="34" charset="0"/>
            </a:endParaRPr>
          </a:p>
          <a:p>
            <a:r>
              <a:rPr lang="es-ES" sz="1300">
                <a:solidFill>
                  <a:srgbClr val="111111"/>
                </a:solidFill>
                <a:latin typeface="Segoe UI" panose="020B0502040204020203" pitchFamily="34" charset="0"/>
              </a:rPr>
              <a:t>• Servicio a la mesa especializado en parrilla.</a:t>
            </a:r>
          </a:p>
          <a:p>
            <a:endParaRPr lang="es-ES" sz="1300">
              <a:solidFill>
                <a:srgbClr val="111111"/>
              </a:solidFill>
              <a:latin typeface="Segoe UI" panose="020B0502040204020203" pitchFamily="34" charset="0"/>
            </a:endParaRPr>
          </a:p>
          <a:p>
            <a:r>
              <a:rPr lang="es-ES" sz="1300">
                <a:solidFill>
                  <a:srgbClr val="111111"/>
                </a:solidFill>
                <a:latin typeface="Segoe UI" panose="020B0502040204020203" pitchFamily="34" charset="0"/>
              </a:rPr>
              <a:t>• Carta asociada a recetas con insumos exactos por porción.</a:t>
            </a:r>
          </a:p>
          <a:p>
            <a:endParaRPr lang="es-ES" sz="1300">
              <a:solidFill>
                <a:srgbClr val="111111"/>
              </a:solidFill>
              <a:latin typeface="Segoe UI" panose="020B0502040204020203" pitchFamily="34" charset="0"/>
            </a:endParaRPr>
          </a:p>
          <a:p>
            <a:r>
              <a:rPr lang="es-ES" sz="1300">
                <a:solidFill>
                  <a:srgbClr val="111111"/>
                </a:solidFill>
                <a:latin typeface="Segoe UI" panose="020B0502040204020203" pitchFamily="34" charset="0"/>
              </a:rPr>
              <a:t>• Toma de comandas y asignación por mesa.</a:t>
            </a:r>
            <a:endParaRPr lang="es-CO" sz="1300">
              <a:solidFill>
                <a:srgbClr val="111111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F0E0F64A-750D-A769-A68A-6FF2C39981B2}"/>
              </a:ext>
            </a:extLst>
          </p:cNvPr>
          <p:cNvSpPr/>
          <p:nvPr/>
        </p:nvSpPr>
        <p:spPr>
          <a:xfrm>
            <a:off x="4445000" y="1524000"/>
            <a:ext cx="3302000" cy="4699000"/>
          </a:xfrm>
          <a:prstGeom prst="roundRect">
            <a:avLst/>
          </a:prstGeom>
          <a:solidFill>
            <a:srgbClr val="F5F5F7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ED7F32A-8804-2DE8-8EE6-DBCF379340F5}"/>
              </a:ext>
            </a:extLst>
          </p:cNvPr>
          <p:cNvSpPr txBox="1"/>
          <p:nvPr/>
        </p:nvSpPr>
        <p:spPr>
          <a:xfrm>
            <a:off x="4635500" y="1714500"/>
            <a:ext cx="2921000" cy="20005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400" b="1">
                <a:solidFill>
                  <a:srgbClr val="C8102E"/>
                </a:solidFill>
                <a:latin typeface="Segoe UI" panose="020B0502040204020203" pitchFamily="34" charset="0"/>
              </a:rPr>
              <a:t>INVENTARIO DINÁMICO</a:t>
            </a:r>
          </a:p>
          <a:p>
            <a:endParaRPr lang="es-ES" sz="1300">
              <a:solidFill>
                <a:srgbClr val="111111"/>
              </a:solidFill>
              <a:latin typeface="Segoe UI" panose="020B0502040204020203" pitchFamily="34" charset="0"/>
            </a:endParaRPr>
          </a:p>
          <a:p>
            <a:r>
              <a:rPr lang="es-ES" sz="1300">
                <a:solidFill>
                  <a:srgbClr val="111111"/>
                </a:solidFill>
                <a:latin typeface="Segoe UI" panose="020B0502040204020203" pitchFamily="34" charset="0"/>
              </a:rPr>
              <a:t>• Control de materia prima (gramos, ml, unidades).</a:t>
            </a:r>
          </a:p>
          <a:p>
            <a:endParaRPr lang="es-ES" sz="1300">
              <a:solidFill>
                <a:srgbClr val="111111"/>
              </a:solidFill>
              <a:latin typeface="Segoe UI" panose="020B0502040204020203" pitchFamily="34" charset="0"/>
            </a:endParaRPr>
          </a:p>
          <a:p>
            <a:r>
              <a:rPr lang="es-ES" sz="1300">
                <a:solidFill>
                  <a:srgbClr val="111111"/>
                </a:solidFill>
                <a:latin typeface="Segoe UI" panose="020B0502040204020203" pitchFamily="34" charset="0"/>
              </a:rPr>
              <a:t>• Alertas automáticas cuando el stock llega al mínimo.</a:t>
            </a:r>
          </a:p>
          <a:p>
            <a:endParaRPr lang="es-ES" sz="1300">
              <a:solidFill>
                <a:srgbClr val="111111"/>
              </a:solidFill>
              <a:latin typeface="Segoe UI" panose="020B0502040204020203" pitchFamily="34" charset="0"/>
            </a:endParaRPr>
          </a:p>
          <a:p>
            <a:r>
              <a:rPr lang="es-ES" sz="1300">
                <a:solidFill>
                  <a:srgbClr val="111111"/>
                </a:solidFill>
                <a:latin typeface="Segoe UI" panose="020B0502040204020203" pitchFamily="34" charset="0"/>
              </a:rPr>
              <a:t>• Registro de compras, bajas y mermas con motivo.</a:t>
            </a:r>
            <a:endParaRPr lang="es-CO" sz="1300">
              <a:solidFill>
                <a:srgbClr val="111111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9C3FCF8D-9A26-FF77-0AB5-F0C3CBCE04E3}"/>
              </a:ext>
            </a:extLst>
          </p:cNvPr>
          <p:cNvSpPr/>
          <p:nvPr/>
        </p:nvSpPr>
        <p:spPr>
          <a:xfrm>
            <a:off x="8128000" y="1524000"/>
            <a:ext cx="3302000" cy="4699000"/>
          </a:xfrm>
          <a:prstGeom prst="roundRect">
            <a:avLst/>
          </a:prstGeom>
          <a:solidFill>
            <a:srgbClr val="F5F5F7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ACCFAE5-81D1-0AC4-4347-069223345C50}"/>
              </a:ext>
            </a:extLst>
          </p:cNvPr>
          <p:cNvSpPr txBox="1"/>
          <p:nvPr/>
        </p:nvSpPr>
        <p:spPr>
          <a:xfrm>
            <a:off x="8318500" y="1714500"/>
            <a:ext cx="2921000" cy="20005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400" b="1">
                <a:solidFill>
                  <a:srgbClr val="C8102E"/>
                </a:solidFill>
                <a:latin typeface="Segoe UI" panose="020B0502040204020203" pitchFamily="34" charset="0"/>
              </a:rPr>
              <a:t>CAJA Y GESTIÓN</a:t>
            </a:r>
          </a:p>
          <a:p>
            <a:endParaRPr lang="es-ES" sz="1300">
              <a:solidFill>
                <a:srgbClr val="111111"/>
              </a:solidFill>
              <a:latin typeface="Segoe UI" panose="020B0502040204020203" pitchFamily="34" charset="0"/>
            </a:endParaRPr>
          </a:p>
          <a:p>
            <a:r>
              <a:rPr lang="es-ES" sz="1300">
                <a:solidFill>
                  <a:srgbClr val="111111"/>
                </a:solidFill>
                <a:latin typeface="Segoe UI" panose="020B0502040204020203" pitchFamily="34" charset="0"/>
              </a:rPr>
              <a:t>• Emisión de cuentas de cobro con opción de devoluciones.</a:t>
            </a:r>
          </a:p>
          <a:p>
            <a:endParaRPr lang="es-ES" sz="1300">
              <a:solidFill>
                <a:srgbClr val="111111"/>
              </a:solidFill>
              <a:latin typeface="Segoe UI" panose="020B0502040204020203" pitchFamily="34" charset="0"/>
            </a:endParaRPr>
          </a:p>
          <a:p>
            <a:r>
              <a:rPr lang="es-ES" sz="1300">
                <a:solidFill>
                  <a:srgbClr val="111111"/>
                </a:solidFill>
                <a:latin typeface="Segoe UI" panose="020B0502040204020203" pitchFamily="34" charset="0"/>
              </a:rPr>
              <a:t>• Pagos por Efectivo, Tarjeta y Transferencia.</a:t>
            </a:r>
          </a:p>
          <a:p>
            <a:endParaRPr lang="es-ES" sz="1300">
              <a:solidFill>
                <a:srgbClr val="111111"/>
              </a:solidFill>
              <a:latin typeface="Segoe UI" panose="020B0502040204020203" pitchFamily="34" charset="0"/>
            </a:endParaRPr>
          </a:p>
          <a:p>
            <a:r>
              <a:rPr lang="es-ES" sz="1300">
                <a:solidFill>
                  <a:srgbClr val="111111"/>
                </a:solidFill>
                <a:latin typeface="Segoe UI" panose="020B0502040204020203" pitchFamily="34" charset="0"/>
              </a:rPr>
              <a:t>• Liberación de mesa y reportes comerciales de ventas.</a:t>
            </a:r>
            <a:endParaRPr lang="es-CO" sz="1300">
              <a:solidFill>
                <a:srgbClr val="11111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6537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7CF56F0-1120-743B-F881-E9AE482A7F47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074C6EA-2271-9392-598C-151D8514C5EA}"/>
              </a:ext>
            </a:extLst>
          </p:cNvPr>
          <p:cNvSpPr txBox="1"/>
          <p:nvPr/>
        </p:nvSpPr>
        <p:spPr>
          <a:xfrm>
            <a:off x="723900" y="381000"/>
            <a:ext cx="10668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1100" b="1">
                <a:solidFill>
                  <a:srgbClr val="C8102E"/>
                </a:solidFill>
                <a:latin typeface="Segoe UI" panose="020B0502040204020203" pitchFamily="34" charset="0"/>
              </a:rPr>
              <a:t>DIAGNÓSTICO INICIAL E HIPÓTESIS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195D99B-8039-E0C9-6060-65990B8E6E4D}"/>
              </a:ext>
            </a:extLst>
          </p:cNvPr>
          <p:cNvSpPr txBox="1"/>
          <p:nvPr/>
        </p:nvSpPr>
        <p:spPr>
          <a:xfrm>
            <a:off x="723900" y="635000"/>
            <a:ext cx="10668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2000" b="1">
                <a:solidFill>
                  <a:srgbClr val="111111"/>
                </a:solidFill>
                <a:latin typeface="Segoe UI" panose="020B0502040204020203" pitchFamily="34" charset="0"/>
              </a:rPr>
              <a:t>PROBLEMA PRINCIPAL A VALIDAR EN LA ENTREVISTA</a:t>
            </a:r>
            <a:endParaRPr lang="es-CO" sz="2000" b="1">
              <a:solidFill>
                <a:srgbClr val="111111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9B8FAEFC-C39B-90A8-2CBD-3FECECB53321}"/>
              </a:ext>
            </a:extLst>
          </p:cNvPr>
          <p:cNvSpPr/>
          <p:nvPr/>
        </p:nvSpPr>
        <p:spPr>
          <a:xfrm>
            <a:off x="762000" y="1524000"/>
            <a:ext cx="5080000" cy="4699000"/>
          </a:xfrm>
          <a:prstGeom prst="roundRect">
            <a:avLst/>
          </a:prstGeom>
          <a:solidFill>
            <a:srgbClr val="111111"/>
          </a:solidFill>
          <a:ln w="25400">
            <a:solidFill>
              <a:srgbClr val="C810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2E71D1B-FC15-407A-8C46-4BEC4529AEAF}"/>
              </a:ext>
            </a:extLst>
          </p:cNvPr>
          <p:cNvSpPr txBox="1"/>
          <p:nvPr/>
        </p:nvSpPr>
        <p:spPr>
          <a:xfrm>
            <a:off x="1016000" y="1778000"/>
            <a:ext cx="4572000" cy="16004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400" b="1">
                <a:solidFill>
                  <a:srgbClr val="C8102E"/>
                </a:solidFill>
                <a:latin typeface="Segoe UI" panose="020B0502040204020203" pitchFamily="34" charset="0"/>
              </a:rPr>
              <a:t>PROBLEMA CENTRAL</a:t>
            </a:r>
          </a:p>
          <a:p>
            <a:endParaRPr lang="es-ES" sz="1300">
              <a:solidFill>
                <a:srgbClr val="FFFFFF"/>
              </a:solidFill>
              <a:latin typeface="Segoe UI" panose="020B0502040204020203" pitchFamily="34" charset="0"/>
            </a:endParaRPr>
          </a:p>
          <a:p>
            <a:r>
              <a:rPr lang="es-ES" sz="1300">
                <a:solidFill>
                  <a:srgbClr val="FFFFFF"/>
                </a:solidFill>
                <a:latin typeface="Segoe UI" panose="020B0502040204020203" pitchFamily="34" charset="0"/>
              </a:rPr>
              <a:t>Carbonífero no tiene una forma confiable de conocer en tiempo real qué ingredientes le quedan y qué platos puede vender.</a:t>
            </a:r>
          </a:p>
          <a:p>
            <a:endParaRPr lang="es-ES" sz="1300">
              <a:solidFill>
                <a:srgbClr val="FFFFFF"/>
              </a:solidFill>
              <a:latin typeface="Segoe UI" panose="020B0502040204020203" pitchFamily="34" charset="0"/>
            </a:endParaRPr>
          </a:p>
          <a:p>
            <a:r>
              <a:rPr lang="es-ES" sz="1300">
                <a:solidFill>
                  <a:srgbClr val="FFFFFF"/>
                </a:solidFill>
                <a:latin typeface="Segoe UI" panose="020B0502040204020203" pitchFamily="34" charset="0"/>
              </a:rPr>
              <a:t>El flujo físico en papel entre mesero, cajero y cocina genera errores, demoras y pérdida de información comercial.</a:t>
            </a:r>
            <a:endParaRPr lang="es-CO" sz="13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5B1224E6-DD2B-10F8-1C66-0437905C328D}"/>
              </a:ext>
            </a:extLst>
          </p:cNvPr>
          <p:cNvSpPr/>
          <p:nvPr/>
        </p:nvSpPr>
        <p:spPr>
          <a:xfrm>
            <a:off x="6223000" y="1524000"/>
            <a:ext cx="5207000" cy="4699000"/>
          </a:xfrm>
          <a:prstGeom prst="roundRect">
            <a:avLst/>
          </a:prstGeom>
          <a:solidFill>
            <a:srgbClr val="F5F5F7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AFFD10D-D4A2-4191-8632-B394E0B246B4}"/>
              </a:ext>
            </a:extLst>
          </p:cNvPr>
          <p:cNvSpPr txBox="1"/>
          <p:nvPr/>
        </p:nvSpPr>
        <p:spPr>
          <a:xfrm>
            <a:off x="6477000" y="1714500"/>
            <a:ext cx="4699000" cy="14157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400" b="1">
                <a:solidFill>
                  <a:srgbClr val="C8102E"/>
                </a:solidFill>
                <a:latin typeface="Segoe UI" panose="020B0502040204020203" pitchFamily="34" charset="0"/>
              </a:rPr>
              <a:t>HIPÓTESIS CLAVE</a:t>
            </a:r>
          </a:p>
          <a:p>
            <a:endParaRPr lang="es-ES" sz="1300">
              <a:solidFill>
                <a:srgbClr val="111111"/>
              </a:solidFill>
              <a:latin typeface="Segoe UI" panose="020B0502040204020203" pitchFamily="34" charset="0"/>
            </a:endParaRPr>
          </a:p>
          <a:p>
            <a:r>
              <a:rPr lang="es-ES" sz="1300">
                <a:solidFill>
                  <a:srgbClr val="111111"/>
                </a:solidFill>
                <a:latin typeface="Segoe UI" panose="020B0502040204020203" pitchFamily="34" charset="0"/>
              </a:rPr>
              <a:t>• H1: El inventario real no coincide con el registrado.</a:t>
            </a:r>
          </a:p>
          <a:p>
            <a:r>
              <a:rPr lang="es-ES" sz="1300">
                <a:solidFill>
                  <a:srgbClr val="111111"/>
                </a:solidFill>
                <a:latin typeface="Segoe UI" panose="020B0502040204020203" pitchFamily="34" charset="0"/>
              </a:rPr>
              <a:t>• H2: Se ofrecen platos que no se pueden preparar.</a:t>
            </a:r>
          </a:p>
          <a:p>
            <a:r>
              <a:rPr lang="es-ES" sz="1300">
                <a:solidFill>
                  <a:srgbClr val="111111"/>
                </a:solidFill>
                <a:latin typeface="Segoe UI" panose="020B0502040204020203" pitchFamily="34" charset="0"/>
              </a:rPr>
              <a:t>• H3: La comanda en papel genera demoras y errores.</a:t>
            </a:r>
          </a:p>
          <a:p>
            <a:r>
              <a:rPr lang="es-ES" sz="1300">
                <a:solidFill>
                  <a:srgbClr val="111111"/>
                </a:solidFill>
                <a:latin typeface="Segoe UI" panose="020B0502040204020203" pitchFamily="34" charset="0"/>
              </a:rPr>
              <a:t>• H4: Las cuentas y devoluciones carecen de trazabilidad.</a:t>
            </a:r>
          </a:p>
          <a:p>
            <a:r>
              <a:rPr lang="es-ES" sz="1300">
                <a:solidFill>
                  <a:srgbClr val="111111"/>
                </a:solidFill>
                <a:latin typeface="Segoe UI" panose="020B0502040204020203" pitchFamily="34" charset="0"/>
              </a:rPr>
              <a:t>• H5: El dueño decide sin reportes consolidados.</a:t>
            </a:r>
            <a:endParaRPr lang="es-CO" sz="1300">
              <a:solidFill>
                <a:srgbClr val="11111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2023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1E29F808-A69E-F26A-BBC7-4D7043942D00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D48C37A-3622-ABD7-C996-EC5E93752D2F}"/>
              </a:ext>
            </a:extLst>
          </p:cNvPr>
          <p:cNvSpPr txBox="1"/>
          <p:nvPr/>
        </p:nvSpPr>
        <p:spPr>
          <a:xfrm>
            <a:off x="723900" y="381000"/>
            <a:ext cx="10668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1100" b="1">
                <a:solidFill>
                  <a:srgbClr val="C8102E"/>
                </a:solidFill>
                <a:latin typeface="Segoe UI" panose="020B0502040204020203" pitchFamily="34" charset="0"/>
              </a:rPr>
              <a:t>ARQUITECTURA DE LA SOLUCIÓN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5478D2D-7C78-637A-9393-55A0B62753E0}"/>
              </a:ext>
            </a:extLst>
          </p:cNvPr>
          <p:cNvSpPr txBox="1"/>
          <p:nvPr/>
        </p:nvSpPr>
        <p:spPr>
          <a:xfrm>
            <a:off x="723900" y="635000"/>
            <a:ext cx="10668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2000" b="1">
                <a:solidFill>
                  <a:srgbClr val="111111"/>
                </a:solidFill>
                <a:latin typeface="Segoe UI" panose="020B0502040204020203" pitchFamily="34" charset="0"/>
              </a:rPr>
              <a:t>REQUERIMIENTOS AUTOMATIZADOS (PROTOTIPO JAVAFX)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B0842D66-D068-12A0-6011-86D16B6717CC}"/>
              </a:ext>
            </a:extLst>
          </p:cNvPr>
          <p:cNvSpPr/>
          <p:nvPr/>
        </p:nvSpPr>
        <p:spPr>
          <a:xfrm>
            <a:off x="762000" y="1524000"/>
            <a:ext cx="5207000" cy="2222500"/>
          </a:xfrm>
          <a:prstGeom prst="roundRect">
            <a:avLst/>
          </a:prstGeom>
          <a:solidFill>
            <a:srgbClr val="F5F5F7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6CFDB73-4980-F78C-AEDE-F3AAC617C7B7}"/>
              </a:ext>
            </a:extLst>
          </p:cNvPr>
          <p:cNvSpPr txBox="1"/>
          <p:nvPr/>
        </p:nvSpPr>
        <p:spPr>
          <a:xfrm>
            <a:off x="1016000" y="1714500"/>
            <a:ext cx="4699000" cy="89255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300" b="1">
                <a:solidFill>
                  <a:srgbClr val="C8102E"/>
                </a:solidFill>
                <a:latin typeface="Segoe UI" panose="020B0502040204020203" pitchFamily="34" charset="0"/>
              </a:rPr>
              <a:t>RF-01 / RF-02: MENÚ E INVENTARIO</a:t>
            </a:r>
          </a:p>
          <a:p>
            <a:endParaRPr lang="es-ES" sz="1300">
              <a:solidFill>
                <a:srgbClr val="111111"/>
              </a:solidFill>
              <a:latin typeface="Segoe UI" panose="020B0502040204020203" pitchFamily="34" charset="0"/>
            </a:endParaRPr>
          </a:p>
          <a:p>
            <a:r>
              <a:rPr lang="es-ES" sz="1300">
                <a:solidFill>
                  <a:srgbClr val="111111"/>
                </a:solidFill>
                <a:latin typeface="Segoe UI" panose="020B0502040204020203" pitchFamily="34" charset="0"/>
              </a:rPr>
              <a:t>Creación de platos y recetas por porción. Compras, bajas y descuento automático por comanda.</a:t>
            </a:r>
            <a:endParaRPr lang="es-CO" sz="1300">
              <a:solidFill>
                <a:srgbClr val="111111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1C57E8D5-954C-0BBB-5346-382D3E77C6E0}"/>
              </a:ext>
            </a:extLst>
          </p:cNvPr>
          <p:cNvSpPr/>
          <p:nvPr/>
        </p:nvSpPr>
        <p:spPr>
          <a:xfrm>
            <a:off x="6223000" y="1524000"/>
            <a:ext cx="5207000" cy="2222500"/>
          </a:xfrm>
          <a:prstGeom prst="roundRect">
            <a:avLst/>
          </a:prstGeom>
          <a:solidFill>
            <a:srgbClr val="F5F5F7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505118A-536B-4C42-23C9-515592E20BF4}"/>
              </a:ext>
            </a:extLst>
          </p:cNvPr>
          <p:cNvSpPr txBox="1"/>
          <p:nvPr/>
        </p:nvSpPr>
        <p:spPr>
          <a:xfrm>
            <a:off x="6477000" y="1714500"/>
            <a:ext cx="4699000" cy="89255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300" b="1">
                <a:solidFill>
                  <a:srgbClr val="C8102E"/>
                </a:solidFill>
                <a:latin typeface="Segoe UI" panose="020B0502040204020203" pitchFamily="34" charset="0"/>
              </a:rPr>
              <a:t>RF-03: ALERTAS DE STOCK MÍNIMO</a:t>
            </a:r>
          </a:p>
          <a:p>
            <a:endParaRPr lang="es-ES" sz="1300">
              <a:solidFill>
                <a:srgbClr val="111111"/>
              </a:solidFill>
              <a:latin typeface="Segoe UI" panose="020B0502040204020203" pitchFamily="34" charset="0"/>
            </a:endParaRPr>
          </a:p>
          <a:p>
            <a:r>
              <a:rPr lang="es-ES" sz="1300">
                <a:solidFill>
                  <a:srgbClr val="111111"/>
                </a:solidFill>
                <a:latin typeface="Segoe UI" panose="020B0502040204020203" pitchFamily="34" charset="0"/>
              </a:rPr>
              <a:t>Detección inmediata de insumos agotados o bajo el umbral crítico para deshabilitar platos.</a:t>
            </a:r>
            <a:endParaRPr lang="es-CO" sz="1300">
              <a:solidFill>
                <a:srgbClr val="111111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ABA765C6-D788-5935-5C3B-D71E348A6ADB}"/>
              </a:ext>
            </a:extLst>
          </p:cNvPr>
          <p:cNvSpPr/>
          <p:nvPr/>
        </p:nvSpPr>
        <p:spPr>
          <a:xfrm>
            <a:off x="762000" y="4000500"/>
            <a:ext cx="5207000" cy="2222500"/>
          </a:xfrm>
          <a:prstGeom prst="roundRect">
            <a:avLst/>
          </a:prstGeom>
          <a:solidFill>
            <a:srgbClr val="F5F5F7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35281D5-1CF1-9F85-7DF7-7EC84B684FCC}"/>
              </a:ext>
            </a:extLst>
          </p:cNvPr>
          <p:cNvSpPr txBox="1"/>
          <p:nvPr/>
        </p:nvSpPr>
        <p:spPr>
          <a:xfrm>
            <a:off x="1016000" y="4191000"/>
            <a:ext cx="4699000" cy="89255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300" b="1">
                <a:solidFill>
                  <a:srgbClr val="C8102E"/>
                </a:solidFill>
                <a:latin typeface="Segoe UI" panose="020B0502040204020203" pitchFamily="34" charset="0"/>
              </a:rPr>
              <a:t>RF-04 / RF-05: COMANDAS Y DEVOLUCIÓN</a:t>
            </a:r>
          </a:p>
          <a:p>
            <a:endParaRPr lang="es-ES" sz="1300">
              <a:solidFill>
                <a:srgbClr val="111111"/>
              </a:solidFill>
              <a:latin typeface="Segoe UI" panose="020B0502040204020203" pitchFamily="34" charset="0"/>
            </a:endParaRPr>
          </a:p>
          <a:p>
            <a:r>
              <a:rPr lang="es-ES" sz="1300">
                <a:solidFill>
                  <a:srgbClr val="111111"/>
                </a:solidFill>
                <a:latin typeface="Segoe UI" panose="020B0502040204020203" pitchFamily="34" charset="0"/>
              </a:rPr>
              <a:t>Toma de pedidos por mesa con cálculo de disponibilidad real y ajuste por devoluciones.</a:t>
            </a:r>
            <a:endParaRPr lang="es-CO" sz="1300">
              <a:solidFill>
                <a:srgbClr val="111111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1D71CBE7-2EA3-D75A-5F9F-2EA6813C1E30}"/>
              </a:ext>
            </a:extLst>
          </p:cNvPr>
          <p:cNvSpPr/>
          <p:nvPr/>
        </p:nvSpPr>
        <p:spPr>
          <a:xfrm>
            <a:off x="6223000" y="4000500"/>
            <a:ext cx="5207000" cy="2222500"/>
          </a:xfrm>
          <a:prstGeom prst="roundRect">
            <a:avLst/>
          </a:prstGeom>
          <a:solidFill>
            <a:srgbClr val="F5F5F7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8565A8B-3551-91D3-CA6B-F8584CB2B4EC}"/>
              </a:ext>
            </a:extLst>
          </p:cNvPr>
          <p:cNvSpPr txBox="1"/>
          <p:nvPr/>
        </p:nvSpPr>
        <p:spPr>
          <a:xfrm>
            <a:off x="6477000" y="4191000"/>
            <a:ext cx="4699000" cy="89255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300" b="1">
                <a:solidFill>
                  <a:srgbClr val="C8102E"/>
                </a:solidFill>
                <a:latin typeface="Segoe UI" panose="020B0502040204020203" pitchFamily="34" charset="0"/>
              </a:rPr>
              <a:t>RF-06 A RF-08: COBRO, PAGO Y REPORTES</a:t>
            </a:r>
          </a:p>
          <a:p>
            <a:endParaRPr lang="es-ES" sz="1300">
              <a:solidFill>
                <a:srgbClr val="111111"/>
              </a:solidFill>
              <a:latin typeface="Segoe UI" panose="020B0502040204020203" pitchFamily="34" charset="0"/>
            </a:endParaRPr>
          </a:p>
          <a:p>
            <a:r>
              <a:rPr lang="es-ES" sz="1300">
                <a:solidFill>
                  <a:srgbClr val="111111"/>
                </a:solidFill>
                <a:latin typeface="Segoe UI" panose="020B0502040204020203" pitchFamily="34" charset="0"/>
              </a:rPr>
              <a:t>Generación de cuenta, pagos múltiples, liberación de mesa e informes de ventas por periodo.</a:t>
            </a:r>
            <a:endParaRPr lang="es-CO" sz="1300">
              <a:solidFill>
                <a:srgbClr val="11111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187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E13F1422-50E4-35B2-3761-E82BD8955262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C0F2CE8-EA08-EFE3-5CB7-ED419ABDCD99}"/>
              </a:ext>
            </a:extLst>
          </p:cNvPr>
          <p:cNvSpPr txBox="1"/>
          <p:nvPr/>
        </p:nvSpPr>
        <p:spPr>
          <a:xfrm>
            <a:off x="723900" y="381000"/>
            <a:ext cx="10668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1100" b="1">
                <a:solidFill>
                  <a:srgbClr val="C8102E"/>
                </a:solidFill>
                <a:latin typeface="Segoe UI" panose="020B0502040204020203" pitchFamily="34" charset="0"/>
              </a:rPr>
              <a:t>VALIDACIÓN Y PRÓXIMOS PASOS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6AE2377-4198-8719-4C7B-812E6322F316}"/>
              </a:ext>
            </a:extLst>
          </p:cNvPr>
          <p:cNvSpPr txBox="1"/>
          <p:nvPr/>
        </p:nvSpPr>
        <p:spPr>
          <a:xfrm>
            <a:off x="723900" y="635000"/>
            <a:ext cx="10668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2000" b="1">
                <a:solidFill>
                  <a:srgbClr val="111111"/>
                </a:solidFill>
                <a:latin typeface="Segoe UI" panose="020B0502040204020203" pitchFamily="34" charset="0"/>
              </a:rPr>
              <a:t>PREGUNTAS ESTRATÉGICAS Y ACUERDOS DE CIERRE</a:t>
            </a:r>
            <a:endParaRPr lang="es-CO" sz="2000" b="1">
              <a:solidFill>
                <a:srgbClr val="111111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0D22E17D-AA4D-61C8-CF75-52375F9E2B11}"/>
              </a:ext>
            </a:extLst>
          </p:cNvPr>
          <p:cNvSpPr/>
          <p:nvPr/>
        </p:nvSpPr>
        <p:spPr>
          <a:xfrm>
            <a:off x="762000" y="1524000"/>
            <a:ext cx="5207000" cy="4699000"/>
          </a:xfrm>
          <a:prstGeom prst="roundRect">
            <a:avLst/>
          </a:prstGeom>
          <a:solidFill>
            <a:srgbClr val="F5F5F7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D20B13B-4AC8-5366-65ED-6269F9B54326}"/>
              </a:ext>
            </a:extLst>
          </p:cNvPr>
          <p:cNvSpPr txBox="1"/>
          <p:nvPr/>
        </p:nvSpPr>
        <p:spPr>
          <a:xfrm>
            <a:off x="1016000" y="1714500"/>
            <a:ext cx="4699000" cy="20005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400" b="1">
                <a:solidFill>
                  <a:srgbClr val="C8102E"/>
                </a:solidFill>
                <a:latin typeface="Segoe UI" panose="020B0502040204020203" pitchFamily="34" charset="0"/>
              </a:rPr>
              <a:t>TEMAS A NEGOCIAR CON EL CLIENTE</a:t>
            </a:r>
          </a:p>
          <a:p>
            <a:endParaRPr lang="es-ES" sz="1300">
              <a:solidFill>
                <a:srgbClr val="111111"/>
              </a:solidFill>
              <a:latin typeface="Segoe UI" panose="020B0502040204020203" pitchFamily="34" charset="0"/>
            </a:endParaRPr>
          </a:p>
          <a:p>
            <a:r>
              <a:rPr lang="es-ES" sz="1300">
                <a:solidFill>
                  <a:srgbClr val="111111"/>
                </a:solidFill>
                <a:latin typeface="Segoe UI" panose="020B0502040204020203" pitchFamily="34" charset="0"/>
              </a:rPr>
              <a:t>• Alcance: ¿Cuál funcionalidad es la prioridad #1 para la primera entrega de este semestre?</a:t>
            </a:r>
          </a:p>
          <a:p>
            <a:endParaRPr lang="es-ES" sz="1300">
              <a:solidFill>
                <a:srgbClr val="111111"/>
              </a:solidFill>
              <a:latin typeface="Segoe UI" panose="020B0502040204020203" pitchFamily="34" charset="0"/>
            </a:endParaRPr>
          </a:p>
          <a:p>
            <a:r>
              <a:rPr lang="es-ES" sz="1300">
                <a:solidFill>
                  <a:srgbClr val="111111"/>
                </a:solidFill>
                <a:latin typeface="Segoe UI" panose="020B0502040204020203" pitchFamily="34" charset="0"/>
              </a:rPr>
              <a:t>• Restricciones: ¿Con qué equipos (computadores, tablets, impresoras) cuentan en el local?</a:t>
            </a:r>
          </a:p>
          <a:p>
            <a:endParaRPr lang="es-ES" sz="1300">
              <a:solidFill>
                <a:srgbClr val="111111"/>
              </a:solidFill>
              <a:latin typeface="Segoe UI" panose="020B0502040204020203" pitchFamily="34" charset="0"/>
            </a:endParaRPr>
          </a:p>
          <a:p>
            <a:r>
              <a:rPr lang="es-ES" sz="1300">
                <a:solidFill>
                  <a:srgbClr val="111111"/>
                </a:solidFill>
                <a:latin typeface="Segoe UI" panose="020B0502040204020203" pitchFamily="34" charset="0"/>
              </a:rPr>
              <a:t>• Operación: ¿Qué sucede cuando un insumo se agota en pleno servicio?</a:t>
            </a:r>
            <a:endParaRPr lang="es-CO" sz="1300">
              <a:solidFill>
                <a:srgbClr val="111111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A6B592D-AC23-20C2-43B5-DBBDEB5F6E65}"/>
              </a:ext>
            </a:extLst>
          </p:cNvPr>
          <p:cNvSpPr/>
          <p:nvPr/>
        </p:nvSpPr>
        <p:spPr>
          <a:xfrm>
            <a:off x="6223000" y="1524000"/>
            <a:ext cx="5207000" cy="4699000"/>
          </a:xfrm>
          <a:prstGeom prst="roundRect">
            <a:avLst/>
          </a:prstGeom>
          <a:solidFill>
            <a:srgbClr val="111111"/>
          </a:solidFill>
          <a:ln w="25400">
            <a:solidFill>
              <a:srgbClr val="C810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18E7087-0C0B-B891-59E9-FF976E5886D2}"/>
              </a:ext>
            </a:extLst>
          </p:cNvPr>
          <p:cNvSpPr txBox="1"/>
          <p:nvPr/>
        </p:nvSpPr>
        <p:spPr>
          <a:xfrm>
            <a:off x="6477000" y="1714500"/>
            <a:ext cx="4699000" cy="180049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400" b="1">
                <a:solidFill>
                  <a:srgbClr val="C8102E"/>
                </a:solidFill>
                <a:latin typeface="Segoe UI" panose="020B0502040204020203" pitchFamily="34" charset="0"/>
              </a:rPr>
              <a:t>COMPROMISOS POST-ENTREVISTA</a:t>
            </a:r>
          </a:p>
          <a:p>
            <a:endParaRPr lang="es-ES" sz="1300">
              <a:solidFill>
                <a:srgbClr val="FFFFFF"/>
              </a:solidFill>
              <a:latin typeface="Segoe UI" panose="020B0502040204020203" pitchFamily="34" charset="0"/>
            </a:endParaRPr>
          </a:p>
          <a:p>
            <a:r>
              <a:rPr lang="es-ES" sz="1300">
                <a:solidFill>
                  <a:srgbClr val="FFFFFF"/>
                </a:solidFill>
                <a:latin typeface="Segoe UI" panose="020B0502040204020203" pitchFamily="34" charset="0"/>
              </a:rPr>
              <a:t>• Entrega en máximo 48 horas:</a:t>
            </a:r>
          </a:p>
          <a:p>
            <a:r>
              <a:rPr lang="es-ES" sz="1300">
                <a:solidFill>
                  <a:srgbClr val="FFFFFF"/>
                </a:solidFill>
                <a:latin typeface="Segoe UI" panose="020B0502040204020203" pitchFamily="34" charset="0"/>
              </a:rPr>
              <a:t>  - Presentación del dominio actualizada.</a:t>
            </a:r>
          </a:p>
          <a:p>
            <a:r>
              <a:rPr lang="es-ES" sz="1300">
                <a:solidFill>
                  <a:srgbClr val="FFFFFF"/>
                </a:solidFill>
                <a:latin typeface="Segoe UI" panose="020B0502040204020203" pitchFamily="34" charset="0"/>
              </a:rPr>
              <a:t>  - Maqueta del software con ajustes requeridos.</a:t>
            </a:r>
          </a:p>
          <a:p>
            <a:r>
              <a:rPr lang="es-ES" sz="1300">
                <a:solidFill>
                  <a:srgbClr val="FFFFFF"/>
                </a:solidFill>
                <a:latin typeface="Segoe UI" panose="020B0502040204020203" pitchFamily="34" charset="0"/>
              </a:rPr>
              <a:t>  - Acta formal de entrevista y riesgos.</a:t>
            </a:r>
          </a:p>
          <a:p>
            <a:endParaRPr lang="es-ES" sz="1300">
              <a:solidFill>
                <a:srgbClr val="FFFFFF"/>
              </a:solidFill>
              <a:latin typeface="Segoe UI" panose="020B0502040204020203" pitchFamily="34" charset="0"/>
            </a:endParaRPr>
          </a:p>
          <a:p>
            <a:r>
              <a:rPr lang="es-ES" sz="1300">
                <a:solidFill>
                  <a:srgbClr val="FFFFFF"/>
                </a:solidFill>
                <a:latin typeface="Segoe UI" panose="020B0502040204020203" pitchFamily="34" charset="0"/>
              </a:rPr>
              <a:t>• Inclusión del cliente al canal del proyecto.</a:t>
            </a:r>
          </a:p>
          <a:p>
            <a:r>
              <a:rPr lang="es-ES" sz="1300">
                <a:solidFill>
                  <a:srgbClr val="FFFFFF"/>
                </a:solidFill>
                <a:latin typeface="Segoe UI" panose="020B0502040204020203" pitchFamily="34" charset="0"/>
              </a:rPr>
              <a:t>• Programación de la Entrega Funcional N°1.</a:t>
            </a:r>
            <a:endParaRPr lang="es-CO" sz="13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05886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63A3D66C3AFAC4BA07D53D37B839A50" ma:contentTypeVersion="5" ma:contentTypeDescription="Crear nuevo documento." ma:contentTypeScope="" ma:versionID="a2ef261469258e9fb37470895b631c4b">
  <xsd:schema xmlns:xsd="http://www.w3.org/2001/XMLSchema" xmlns:xs="http://www.w3.org/2001/XMLSchema" xmlns:p="http://schemas.microsoft.com/office/2006/metadata/properties" xmlns:ns3="4b4e58ca-27e8-490c-a332-fbbb74429e35" targetNamespace="http://schemas.microsoft.com/office/2006/metadata/properties" ma:root="true" ma:fieldsID="ca7b273f35d4ed6763d6893f5d45293d" ns3:_="">
    <xsd:import namespace="4b4e58ca-27e8-490c-a332-fbbb74429e35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4e58ca-27e8-490c-a332-fbbb74429e35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CA14DD9-AC82-49F8-9EBD-4F198FCDD5E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b4e58ca-27e8-490c-a332-fbbb74429e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D0D35B2-9317-4629-89B4-70772DFA080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1C6CEDB-9BE8-4E1C-AB2E-FCE4878399A4}">
  <ds:schemaRefs>
    <ds:schemaRef ds:uri="4b4e58ca-27e8-490c-a332-fbbb74429e35"/>
    <ds:schemaRef ds:uri="http://purl.org/dc/elements/1.1/"/>
    <ds:schemaRef ds:uri="http://purl.org/dc/terms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528</Words>
  <Application>Microsoft Office PowerPoint</Application>
  <PresentationFormat>Personalizado</PresentationFormat>
  <Paragraphs>79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Segoe UI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SERA ROAM</dc:creator>
  <cp:lastModifiedBy>Samuel Rojas</cp:lastModifiedBy>
  <cp:revision>1</cp:revision>
  <dcterms:created xsi:type="dcterms:W3CDTF">2026-10-27T00:27:12Z</dcterms:created>
  <dcterms:modified xsi:type="dcterms:W3CDTF">2026-10-27T00:27:31Z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0x010100663A3D66C3AFAC4BA07D53D37B839A50</vt:lpwstr>
  </property>
</Properties>
</file>